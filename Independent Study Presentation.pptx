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202a2ca7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b202a2ca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b202a2ca7e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202a2ca7e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b202a2ca7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202a2ca7e_0_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202a2ca7e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202a2ca7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react loop reduces hallucinations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the case with more than one ticker, it runs a separate react loop for each ticker, then aggregates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docetl is better because it produces more insightful documents compared to raw text chunks</a:t>
            </a:r>
            <a:endParaRPr/>
          </a:p>
        </p:txBody>
      </p:sp>
      <p:sp>
        <p:nvSpPr>
          <p:cNvPr id="239" name="Google Shape;239;g3b202a2ca7e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202a2ca7e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202a2ca7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b202a2ca7e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202a2ca7e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b202a2ca7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b202a2ca7e_0_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202a2ca7e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202a2ca7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b202a2ca7e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vider Slide">
  <p:cSld name="1_Divider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56445" y="5"/>
            <a:ext cx="9206200" cy="51514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2-line-whitetext-colorshield.png"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5599" y="4296762"/>
            <a:ext cx="1769927" cy="650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 amt="9000"/>
          </a:blip>
          <a:srcRect b="0" l="0" r="0" t="0"/>
          <a:stretch/>
        </p:blipFill>
        <p:spPr>
          <a:xfrm>
            <a:off x="199388" y="151675"/>
            <a:ext cx="3080816" cy="345772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958151" y="3255792"/>
            <a:ext cx="73970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21" name="Google Shape;21;p2"/>
          <p:cNvGrpSpPr/>
          <p:nvPr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22" name="Google Shape;22;p2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" name="Google Shape;28;p3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29" name="Google Shape;29;p3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457200" y="1104904"/>
            <a:ext cx="8082552" cy="348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9" y="0"/>
            <a:ext cx="9143999" cy="5143500"/>
          </a:xfrm>
          <a:prstGeom prst="rect">
            <a:avLst/>
          </a:prstGeom>
          <a:solidFill>
            <a:srgbClr val="D7DA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8" name="Google Shape;38;p4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39" name="Google Shape;39;p4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1-line-bluetext-colorshield.png" id="42" name="Google Shape;4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699003"/>
            <a:ext cx="1809092" cy="347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47" name="Google Shape;47;p5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48" name="Google Shape;48;p5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-line-bluetext-colorshield.png" id="52" name="Google Shape;52;p6"/>
          <p:cNvPicPr preferRelativeResize="0"/>
          <p:nvPr/>
        </p:nvPicPr>
        <p:blipFill rotWithShape="1">
          <a:blip r:embed="rId2">
            <a:alphaModFix/>
          </a:blip>
          <a:srcRect b="-1906" l="-1" r="-156" t="0"/>
          <a:stretch/>
        </p:blipFill>
        <p:spPr>
          <a:xfrm>
            <a:off x="6585599" y="4296761"/>
            <a:ext cx="1769927" cy="656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pennwatermark.pdf" id="53" name="Google Shape;53;p6"/>
          <p:cNvPicPr preferRelativeResize="0"/>
          <p:nvPr/>
        </p:nvPicPr>
        <p:blipFill rotWithShape="1">
          <a:blip r:embed="rId3">
            <a:alphaModFix amt="6000"/>
          </a:blip>
          <a:srcRect b="0" l="0" r="0" t="0"/>
          <a:stretch/>
        </p:blipFill>
        <p:spPr>
          <a:xfrm>
            <a:off x="199388" y="136510"/>
            <a:ext cx="3080816" cy="347289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958151" y="3255792"/>
            <a:ext cx="7397039" cy="658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94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94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94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94"/>
              </a:buClr>
              <a:buSzPts val="2000"/>
              <a:buNone/>
              <a:defRPr>
                <a:solidFill>
                  <a:srgbClr val="888894"/>
                </a:solidFill>
              </a:defRPr>
            </a:lvl9pPr>
          </a:lstStyle>
          <a:p/>
        </p:txBody>
      </p:sp>
      <p:grpSp>
        <p:nvGrpSpPr>
          <p:cNvPr id="56" name="Google Shape;56;p6"/>
          <p:cNvGrpSpPr/>
          <p:nvPr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57" name="Google Shape;57;p6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60" name="Google Shape;60;p6"/>
          <p:cNvSpPr/>
          <p:nvPr/>
        </p:nvSpPr>
        <p:spPr>
          <a:xfrm>
            <a:off x="254010" y="4572000"/>
            <a:ext cx="2243667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62" name="Google Shape;62;p7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6156" cy="37459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430464" y="902369"/>
            <a:ext cx="8229600" cy="36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6" name="Google Shape;66;p7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67" name="Google Shape;67;p7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>
            <p:ph idx="2" type="pic"/>
          </p:nvPr>
        </p:nvSpPr>
        <p:spPr>
          <a:xfrm>
            <a:off x="4811889" y="1066670"/>
            <a:ext cx="3874912" cy="3527953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8"/>
          <p:cNvSpPr txBox="1"/>
          <p:nvPr>
            <p:ph idx="1" type="body"/>
          </p:nvPr>
        </p:nvSpPr>
        <p:spPr>
          <a:xfrm>
            <a:off x="457200" y="106666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3" name="Google Shape;73;p8"/>
          <p:cNvSpPr txBox="1"/>
          <p:nvPr>
            <p:ph idx="3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8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8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77" name="Google Shape;77;p8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mparison">
  <p:cSld name="4_Comparis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pennwatermark.pdf" id="81" name="Google Shape;81;p9"/>
          <p:cNvPicPr preferRelativeResize="0"/>
          <p:nvPr/>
        </p:nvPicPr>
        <p:blipFill rotWithShape="1">
          <a:blip r:embed="rId2">
            <a:alphaModFix amt="6000"/>
          </a:blip>
          <a:srcRect b="0" l="0" r="0" t="0"/>
          <a:stretch/>
        </p:blipFill>
        <p:spPr>
          <a:xfrm>
            <a:off x="199388" y="105531"/>
            <a:ext cx="3338896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/>
          <p:nvPr>
            <p:ph idx="2" type="pic"/>
          </p:nvPr>
        </p:nvSpPr>
        <p:spPr>
          <a:xfrm>
            <a:off x="4811889" y="1066670"/>
            <a:ext cx="3874912" cy="352795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457200" y="1066669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9"/>
          <p:cNvSpPr txBox="1"/>
          <p:nvPr>
            <p:ph idx="3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9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9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7" name="Google Shape;87;p9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88" name="Google Shape;88;p9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>
            <p:ph idx="1" type="body"/>
          </p:nvPr>
        </p:nvSpPr>
        <p:spPr>
          <a:xfrm>
            <a:off x="457200" y="1104904"/>
            <a:ext cx="4038600" cy="34897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3" name="Google Shape;93;p10"/>
          <p:cNvSpPr txBox="1"/>
          <p:nvPr>
            <p:ph idx="2" type="body"/>
          </p:nvPr>
        </p:nvSpPr>
        <p:spPr>
          <a:xfrm>
            <a:off x="4648200" y="1104902"/>
            <a:ext cx="4038600" cy="3489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4" name="Google Shape;94;p10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0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6" name="Google Shape;96;p10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97" name="Google Shape;97;p10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>
            <p:ph idx="1" type="body"/>
          </p:nvPr>
        </p:nvSpPr>
        <p:spPr>
          <a:xfrm>
            <a:off x="457200" y="1067992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2" name="Google Shape;102;p11"/>
          <p:cNvSpPr txBox="1"/>
          <p:nvPr>
            <p:ph idx="2" type="body"/>
          </p:nvPr>
        </p:nvSpPr>
        <p:spPr>
          <a:xfrm>
            <a:off x="457200" y="1546495"/>
            <a:ext cx="4040188" cy="304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3" name="Google Shape;103;p11"/>
          <p:cNvSpPr txBox="1"/>
          <p:nvPr>
            <p:ph idx="3" type="body"/>
          </p:nvPr>
        </p:nvSpPr>
        <p:spPr>
          <a:xfrm>
            <a:off x="4645033" y="1066669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accent3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" name="Google Shape;104;p11"/>
          <p:cNvSpPr txBox="1"/>
          <p:nvPr>
            <p:ph idx="4" type="body"/>
          </p:nvPr>
        </p:nvSpPr>
        <p:spPr>
          <a:xfrm>
            <a:off x="4645033" y="1546495"/>
            <a:ext cx="4041775" cy="3048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1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7" name="Google Shape;107;p11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08" name="Google Shape;108;p11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sidebar">
  <p:cSld name="Content and sideba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body"/>
          </p:nvPr>
        </p:nvSpPr>
        <p:spPr>
          <a:xfrm>
            <a:off x="6142182" y="1782939"/>
            <a:ext cx="254462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body"/>
          </p:nvPr>
        </p:nvSpPr>
        <p:spPr>
          <a:xfrm>
            <a:off x="6142182" y="2310651"/>
            <a:ext cx="2544621" cy="2282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4" name="Google Shape;114;p12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2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6" name="Google Shape;116;p12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17" name="Google Shape;117;p12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" name="Google Shape;118;p12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12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cxnSp>
        <p:nvCxnSpPr>
          <p:cNvPr id="120" name="Google Shape;120;p12"/>
          <p:cNvCxnSpPr/>
          <p:nvPr/>
        </p:nvCxnSpPr>
        <p:spPr>
          <a:xfrm>
            <a:off x="5908842" y="1099992"/>
            <a:ext cx="0" cy="3599013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2"/>
          <p:cNvSpPr txBox="1"/>
          <p:nvPr>
            <p:ph idx="3" type="body"/>
          </p:nvPr>
        </p:nvSpPr>
        <p:spPr>
          <a:xfrm>
            <a:off x="310162" y="148515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2" name="Google Shape;122;p12"/>
          <p:cNvSpPr txBox="1"/>
          <p:nvPr>
            <p:ph idx="4" type="body"/>
          </p:nvPr>
        </p:nvSpPr>
        <p:spPr>
          <a:xfrm>
            <a:off x="310162" y="180834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12"/>
          <p:cNvSpPr txBox="1"/>
          <p:nvPr>
            <p:ph idx="5" type="body"/>
          </p:nvPr>
        </p:nvSpPr>
        <p:spPr>
          <a:xfrm>
            <a:off x="310162" y="235369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4" name="Google Shape;124;p12"/>
          <p:cNvSpPr txBox="1"/>
          <p:nvPr>
            <p:ph idx="6" type="body"/>
          </p:nvPr>
        </p:nvSpPr>
        <p:spPr>
          <a:xfrm>
            <a:off x="310162" y="267688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5" name="Google Shape;125;p12"/>
          <p:cNvSpPr txBox="1"/>
          <p:nvPr>
            <p:ph idx="7" type="body"/>
          </p:nvPr>
        </p:nvSpPr>
        <p:spPr>
          <a:xfrm>
            <a:off x="310162" y="3191895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6" name="Google Shape;126;p12"/>
          <p:cNvSpPr txBox="1"/>
          <p:nvPr>
            <p:ph idx="8" type="body"/>
          </p:nvPr>
        </p:nvSpPr>
        <p:spPr>
          <a:xfrm>
            <a:off x="310162" y="3515084"/>
            <a:ext cx="52947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sz="1400">
                <a:solidFill>
                  <a:schemeClr val="dk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7" name="Google Shape;127;p12"/>
          <p:cNvSpPr txBox="1"/>
          <p:nvPr>
            <p:ph idx="9" type="body"/>
          </p:nvPr>
        </p:nvSpPr>
        <p:spPr>
          <a:xfrm>
            <a:off x="309033" y="965872"/>
            <a:ext cx="5295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>
                <a:solidFill>
                  <a:srgbClr val="00144D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">
  <p:cSld name="Metric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1" name="Google Shape;131;p13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32" name="Google Shape;132;p13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5" name="Google Shape;135;p13"/>
          <p:cNvSpPr/>
          <p:nvPr/>
        </p:nvSpPr>
        <p:spPr>
          <a:xfrm>
            <a:off x="457210" y="1110136"/>
            <a:ext cx="2198255" cy="1029799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457209" y="1110132"/>
            <a:ext cx="2198255" cy="475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37" name="Google Shape;137;p13"/>
          <p:cNvGrpSpPr/>
          <p:nvPr/>
        </p:nvGrpSpPr>
        <p:grpSpPr>
          <a:xfrm>
            <a:off x="457198" y="2210973"/>
            <a:ext cx="3035300" cy="1029799"/>
            <a:chOff x="457198" y="2913323"/>
            <a:chExt cx="3035300" cy="1373065"/>
          </a:xfrm>
        </p:grpSpPr>
        <p:sp>
          <p:nvSpPr>
            <p:cNvPr id="138" name="Google Shape;138;p13"/>
            <p:cNvSpPr/>
            <p:nvPr/>
          </p:nvSpPr>
          <p:spPr>
            <a:xfrm>
              <a:off x="457199" y="2913323"/>
              <a:ext cx="3035299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457198" y="2913323"/>
              <a:ext cx="3035300" cy="6334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457199" y="3303510"/>
            <a:ext cx="8181976" cy="1029799"/>
            <a:chOff x="457199" y="4370039"/>
            <a:chExt cx="8181976" cy="1373065"/>
          </a:xfrm>
        </p:grpSpPr>
        <p:sp>
          <p:nvSpPr>
            <p:cNvPr id="141" name="Google Shape;141;p13"/>
            <p:cNvSpPr/>
            <p:nvPr/>
          </p:nvSpPr>
          <p:spPr>
            <a:xfrm>
              <a:off x="457199" y="4370039"/>
              <a:ext cx="8181976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457199" y="4370039"/>
              <a:ext cx="8181975" cy="6334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3" name="Google Shape;143;p13"/>
          <p:cNvGrpSpPr/>
          <p:nvPr/>
        </p:nvGrpSpPr>
        <p:grpSpPr>
          <a:xfrm>
            <a:off x="2746375" y="1110136"/>
            <a:ext cx="2762250" cy="1029799"/>
            <a:chOff x="2746375" y="1480176"/>
            <a:chExt cx="2762250" cy="1373065"/>
          </a:xfrm>
        </p:grpSpPr>
        <p:sp>
          <p:nvSpPr>
            <p:cNvPr id="144" name="Google Shape;144;p13"/>
            <p:cNvSpPr/>
            <p:nvPr/>
          </p:nvSpPr>
          <p:spPr>
            <a:xfrm>
              <a:off x="2746375" y="1480176"/>
              <a:ext cx="2762250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2746375" y="1480176"/>
              <a:ext cx="2762250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6" name="Google Shape;146;p13"/>
          <p:cNvGrpSpPr/>
          <p:nvPr/>
        </p:nvGrpSpPr>
        <p:grpSpPr>
          <a:xfrm>
            <a:off x="5611092" y="1110136"/>
            <a:ext cx="3028082" cy="1029799"/>
            <a:chOff x="5556249" y="1480176"/>
            <a:chExt cx="3082926" cy="1373065"/>
          </a:xfrm>
        </p:grpSpPr>
        <p:sp>
          <p:nvSpPr>
            <p:cNvPr id="147" name="Google Shape;147;p13"/>
            <p:cNvSpPr/>
            <p:nvPr/>
          </p:nvSpPr>
          <p:spPr>
            <a:xfrm>
              <a:off x="5556250" y="1480176"/>
              <a:ext cx="3082925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5556249" y="1480176"/>
              <a:ext cx="3082925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3582730" y="2210973"/>
            <a:ext cx="5056446" cy="1029799"/>
            <a:chOff x="3556000" y="2913323"/>
            <a:chExt cx="5083175" cy="1373065"/>
          </a:xfrm>
        </p:grpSpPr>
        <p:sp>
          <p:nvSpPr>
            <p:cNvPr id="150" name="Google Shape;150;p13"/>
            <p:cNvSpPr/>
            <p:nvPr/>
          </p:nvSpPr>
          <p:spPr>
            <a:xfrm>
              <a:off x="3556000" y="2913323"/>
              <a:ext cx="5083175" cy="137306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556000" y="2913323"/>
              <a:ext cx="5083174" cy="6334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52" name="Google Shape;152;p13"/>
          <p:cNvSpPr txBox="1"/>
          <p:nvPr>
            <p:ph idx="1" type="body"/>
          </p:nvPr>
        </p:nvSpPr>
        <p:spPr>
          <a:xfrm>
            <a:off x="457201" y="1197944"/>
            <a:ext cx="2198254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3" name="Google Shape;153;p13"/>
          <p:cNvSpPr txBox="1"/>
          <p:nvPr>
            <p:ph idx="2" type="body"/>
          </p:nvPr>
        </p:nvSpPr>
        <p:spPr>
          <a:xfrm>
            <a:off x="457210" y="1775180"/>
            <a:ext cx="2198255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4" name="Google Shape;154;p13"/>
          <p:cNvSpPr txBox="1"/>
          <p:nvPr>
            <p:ph idx="3" type="body"/>
          </p:nvPr>
        </p:nvSpPr>
        <p:spPr>
          <a:xfrm>
            <a:off x="2746376" y="1197944"/>
            <a:ext cx="2762250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5" name="Google Shape;155;p13"/>
          <p:cNvSpPr txBox="1"/>
          <p:nvPr>
            <p:ph idx="4" type="body"/>
          </p:nvPr>
        </p:nvSpPr>
        <p:spPr>
          <a:xfrm>
            <a:off x="2746378" y="1775180"/>
            <a:ext cx="276225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6" name="Google Shape;156;p13"/>
          <p:cNvSpPr txBox="1"/>
          <p:nvPr>
            <p:ph idx="5" type="body"/>
          </p:nvPr>
        </p:nvSpPr>
        <p:spPr>
          <a:xfrm>
            <a:off x="5611093" y="1197944"/>
            <a:ext cx="3028080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7" name="Google Shape;157;p13"/>
          <p:cNvSpPr txBox="1"/>
          <p:nvPr>
            <p:ph idx="6" type="body"/>
          </p:nvPr>
        </p:nvSpPr>
        <p:spPr>
          <a:xfrm>
            <a:off x="5611099" y="1775180"/>
            <a:ext cx="3028081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accen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8" name="Google Shape;158;p13"/>
          <p:cNvSpPr txBox="1"/>
          <p:nvPr>
            <p:ph idx="7" type="body"/>
          </p:nvPr>
        </p:nvSpPr>
        <p:spPr>
          <a:xfrm>
            <a:off x="3582731" y="2283875"/>
            <a:ext cx="5056442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9" name="Google Shape;159;p13"/>
          <p:cNvSpPr txBox="1"/>
          <p:nvPr>
            <p:ph idx="8" type="body"/>
          </p:nvPr>
        </p:nvSpPr>
        <p:spPr>
          <a:xfrm>
            <a:off x="3582730" y="2861109"/>
            <a:ext cx="5056446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0" name="Google Shape;160;p13"/>
          <p:cNvSpPr txBox="1"/>
          <p:nvPr>
            <p:ph idx="9" type="body"/>
          </p:nvPr>
        </p:nvSpPr>
        <p:spPr>
          <a:xfrm>
            <a:off x="457200" y="2283875"/>
            <a:ext cx="3035298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1" name="Google Shape;161;p13"/>
          <p:cNvSpPr txBox="1"/>
          <p:nvPr>
            <p:ph idx="13" type="body"/>
          </p:nvPr>
        </p:nvSpPr>
        <p:spPr>
          <a:xfrm>
            <a:off x="457206" y="2861109"/>
            <a:ext cx="3035299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dk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2" name="Google Shape;162;p13"/>
          <p:cNvSpPr txBox="1"/>
          <p:nvPr>
            <p:ph idx="14" type="body"/>
          </p:nvPr>
        </p:nvSpPr>
        <p:spPr>
          <a:xfrm>
            <a:off x="457201" y="3385708"/>
            <a:ext cx="8181972" cy="5772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3" name="Google Shape;163;p13"/>
          <p:cNvSpPr txBox="1"/>
          <p:nvPr>
            <p:ph idx="15" type="body"/>
          </p:nvPr>
        </p:nvSpPr>
        <p:spPr>
          <a:xfrm>
            <a:off x="457197" y="3962944"/>
            <a:ext cx="8181980" cy="323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sz="2400">
                <a:solidFill>
                  <a:schemeClr val="lt2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–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">
  <p:cSld name="Venn Diagram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1602040" y="1009064"/>
            <a:ext cx="3742766" cy="37410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3764025" y="997539"/>
            <a:ext cx="3742766" cy="3742764"/>
          </a:xfrm>
          <a:prstGeom prst="ellipse">
            <a:avLst/>
          </a:prstGeom>
          <a:solidFill>
            <a:schemeClr val="accent3">
              <a:alpha val="6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15"/>
          <p:cNvSpPr txBox="1"/>
          <p:nvPr>
            <p:ph type="title"/>
          </p:nvPr>
        </p:nvSpPr>
        <p:spPr>
          <a:xfrm>
            <a:off x="1622280" y="2589950"/>
            <a:ext cx="1947510" cy="652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  <a:defRPr b="0"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1" name="Google Shape;171;p15"/>
          <p:cNvGrpSpPr/>
          <p:nvPr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72" name="Google Shape;172;p15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310162" y="0"/>
            <a:ext cx="7986713" cy="708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2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15"/>
          <p:cNvSpPr txBox="1"/>
          <p:nvPr>
            <p:ph idx="2" type="body"/>
          </p:nvPr>
        </p:nvSpPr>
        <p:spPr>
          <a:xfrm>
            <a:off x="3569790" y="2589610"/>
            <a:ext cx="19685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15"/>
          <p:cNvSpPr txBox="1"/>
          <p:nvPr>
            <p:ph idx="3" type="body"/>
          </p:nvPr>
        </p:nvSpPr>
        <p:spPr>
          <a:xfrm>
            <a:off x="5538290" y="2589610"/>
            <a:ext cx="1968500" cy="652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2pPr>
            <a:lvl3pPr indent="-228600" lvl="2" marL="1371600" algn="l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indent="-228600" lvl="3" marL="18288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indent="-228600" lvl="4" marL="2286000" algn="l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239899" y="4582584"/>
            <a:ext cx="2229555" cy="3902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6"/>
          <p:cNvSpPr/>
          <p:nvPr>
            <p:ph idx="2" type="pic"/>
          </p:nvPr>
        </p:nvSpPr>
        <p:spPr>
          <a:xfrm>
            <a:off x="-15075" y="0"/>
            <a:ext cx="9186334" cy="4185826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16"/>
          <p:cNvSpPr/>
          <p:nvPr/>
        </p:nvSpPr>
        <p:spPr>
          <a:xfrm>
            <a:off x="-42334" y="4233334"/>
            <a:ext cx="9242778" cy="9165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6"/>
          <p:cNvSpPr txBox="1"/>
          <p:nvPr>
            <p:ph idx="1" type="body"/>
          </p:nvPr>
        </p:nvSpPr>
        <p:spPr>
          <a:xfrm>
            <a:off x="465844" y="4471120"/>
            <a:ext cx="5813600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3" name="Google Shape;183;p16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4" name="Google Shape;184;p16"/>
          <p:cNvGrpSpPr/>
          <p:nvPr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185" name="Google Shape;185;p16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/>
          <p:nvPr/>
        </p:nvSpPr>
        <p:spPr>
          <a:xfrm>
            <a:off x="312469" y="4593469"/>
            <a:ext cx="2229555" cy="5282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7"/>
          <p:cNvSpPr/>
          <p:nvPr>
            <p:ph idx="2" type="pic"/>
          </p:nvPr>
        </p:nvSpPr>
        <p:spPr>
          <a:xfrm>
            <a:off x="-14817" y="0"/>
            <a:ext cx="9186334" cy="4185826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465844" y="4471120"/>
            <a:ext cx="5813600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6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92" name="Google Shape;192;p17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93" name="Google Shape;193;p17"/>
          <p:cNvGrpSpPr/>
          <p:nvPr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194" name="Google Shape;194;p17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/>
          <p:nvPr/>
        </p:nvSpPr>
        <p:spPr>
          <a:xfrm>
            <a:off x="363798" y="4553643"/>
            <a:ext cx="2229555" cy="58985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9" name="Google Shape;199;p18"/>
          <p:cNvSpPr/>
          <p:nvPr>
            <p:ph idx="2" type="pic"/>
          </p:nvPr>
        </p:nvSpPr>
        <p:spPr>
          <a:xfrm>
            <a:off x="-25400" y="1011586"/>
            <a:ext cx="9186334" cy="4138319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18"/>
          <p:cNvSpPr/>
          <p:nvPr/>
        </p:nvSpPr>
        <p:spPr>
          <a:xfrm>
            <a:off x="-21167" y="-3292"/>
            <a:ext cx="9178768" cy="9673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465844" y="231435"/>
            <a:ext cx="8220956" cy="455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02" name="Google Shape;202;p18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5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3" name="Google Shape;203;p18"/>
          <p:cNvGrpSpPr/>
          <p:nvPr/>
        </p:nvGrpSpPr>
        <p:grpSpPr>
          <a:xfrm>
            <a:off x="-21168" y="964078"/>
            <a:ext cx="9175834" cy="47507"/>
            <a:chOff x="685800" y="1794746"/>
            <a:chExt cx="7772400" cy="179475"/>
          </a:xfrm>
        </p:grpSpPr>
        <p:sp>
          <p:nvSpPr>
            <p:cNvPr id="204" name="Google Shape;204;p18"/>
            <p:cNvSpPr/>
            <p:nvPr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-line-bluetext-colorshield.png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4699003"/>
            <a:ext cx="180909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30464" y="1029708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94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323520" y="-19089"/>
            <a:ext cx="8229600" cy="7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  <a:defRPr b="0" i="0" sz="3600" u="none" cap="none" strike="noStrike">
                <a:solidFill>
                  <a:srgbClr val="95001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n-US"/>
              <a:t>Financial Research System	</a:t>
            </a:r>
            <a:endParaRPr sz="2600"/>
          </a:p>
        </p:txBody>
      </p:sp>
      <p:sp>
        <p:nvSpPr>
          <p:cNvPr id="212" name="Google Shape;212;p19"/>
          <p:cNvSpPr txBox="1"/>
          <p:nvPr>
            <p:ph idx="1" type="subTitle"/>
          </p:nvPr>
        </p:nvSpPr>
        <p:spPr>
          <a:xfrm>
            <a:off x="958151" y="3255792"/>
            <a:ext cx="7397039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44"/>
              </a:spcBef>
              <a:spcAft>
                <a:spcPts val="0"/>
              </a:spcAft>
              <a:buSzPts val="2400"/>
              <a:buNone/>
            </a:pPr>
            <a:r>
              <a:rPr lang="en-US"/>
              <a:t>Daniel 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idx="12" type="sldNum"/>
          </p:nvPr>
        </p:nvSpPr>
        <p:spPr>
          <a:xfrm>
            <a:off x="6553200" y="4698999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20"/>
          <p:cNvSpPr txBox="1"/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5001A"/>
              </a:buClr>
              <a:buSzPts val="3600"/>
              <a:buFont typeface="Gill Sans"/>
              <a:buNone/>
            </a:pPr>
            <a:r>
              <a:rPr lang="en-US"/>
              <a:t>Overview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457199" y="1016001"/>
            <a:ext cx="78909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Gill Sans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AI system that answers financial questions by searching through SEC filings, earnings transcripts, and news articles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Gill Sans"/>
              <a:buChar char="•"/>
            </a:pP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RAG</a:t>
            </a: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+ agentic AI</a:t>
            </a:r>
            <a:r>
              <a:rPr lang="en-US" sz="2800">
                <a:solidFill>
                  <a:schemeClr val="accent6"/>
                </a:solidFill>
                <a:latin typeface="Gill Sans"/>
                <a:ea typeface="Gill Sans"/>
                <a:cs typeface="Gill Sans"/>
                <a:sym typeface="Gill Sans"/>
              </a:rPr>
              <a:t> with data fetching, vector search, and multi-step reasoning</a:t>
            </a:r>
            <a:endParaRPr sz="2800">
              <a:solidFill>
                <a:schemeClr val="accent6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1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Components</a:t>
            </a:r>
            <a:endParaRPr/>
          </a:p>
        </p:txBody>
      </p:sp>
      <p:sp>
        <p:nvSpPr>
          <p:cNvPr id="227" name="Google Shape;227;p21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ETL orchestration + pipeline for extracting and processing financial data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Retrieval system with searchable indices for processed documents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Agents for providing LLM integration/tool execution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22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Flow</a:t>
            </a:r>
            <a:endParaRPr/>
          </a:p>
        </p:txBody>
      </p:sp>
      <p:sp>
        <p:nvSpPr>
          <p:cNvPr id="235" name="Google Shape;235;p22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User asks: “What are the risks for Apple?”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Intent parsing: Detects ticker “AAPL”, needs filings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Auto-orchestrator: Checks for filings, fetches if missing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Processing: Extracts sections, generates embeddings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Indexing: Rebuilds vector indices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Agent search: Searches filings for risk-related content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Synthesis: LLM synthesizes findings with citations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Response: Returns answer with source references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23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Features</a:t>
            </a:r>
            <a:endParaRPr/>
          </a:p>
        </p:txBody>
      </p:sp>
      <p:sp>
        <p:nvSpPr>
          <p:cNvPr id="243" name="Google Shape;243;p23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ReAct reasoning: agents use Thought → Action → Observation loops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–"/>
            </a:pPr>
            <a:r>
              <a:rPr lang="en-US"/>
              <a:t>Gathers evidence &amp; iterate after each observation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DocETL: runs during processing to create more structured outputs from filings/transcripts/news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4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Sample Query #1</a:t>
            </a:r>
            <a:endParaRPr/>
          </a:p>
        </p:txBody>
      </p:sp>
      <p:sp>
        <p:nvSpPr>
          <p:cNvPr id="251" name="Google Shape;251;p24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388" y="941550"/>
            <a:ext cx="6400222" cy="365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25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Sample Query #2</a:t>
            </a:r>
            <a:endParaRPr/>
          </a:p>
        </p:txBody>
      </p:sp>
      <p:sp>
        <p:nvSpPr>
          <p:cNvPr id="260" name="Google Shape;260;p25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88" y="1382950"/>
            <a:ext cx="8167226" cy="23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"/>
          <p:cNvSpPr txBox="1"/>
          <p:nvPr>
            <p:ph idx="12" type="sldNum"/>
          </p:nvPr>
        </p:nvSpPr>
        <p:spPr>
          <a:xfrm>
            <a:off x="6553200" y="4698999"/>
            <a:ext cx="2133600" cy="273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26"/>
          <p:cNvSpPr txBox="1"/>
          <p:nvPr>
            <p:ph type="title"/>
          </p:nvPr>
        </p:nvSpPr>
        <p:spPr>
          <a:xfrm>
            <a:off x="310152" y="15485"/>
            <a:ext cx="8229600" cy="6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Limitations + Possible improvements</a:t>
            </a:r>
            <a:endParaRPr/>
          </a:p>
        </p:txBody>
      </p:sp>
      <p:sp>
        <p:nvSpPr>
          <p:cNvPr id="269" name="Google Shape;269;p26"/>
          <p:cNvSpPr txBox="1"/>
          <p:nvPr>
            <p:ph idx="1" type="body"/>
          </p:nvPr>
        </p:nvSpPr>
        <p:spPr>
          <a:xfrm>
            <a:off x="457200" y="1104904"/>
            <a:ext cx="8082600" cy="348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Improve vector embeddings with domain-specific knowledge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Combine querying over structured + unstructured data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3">
      <a:dk1>
        <a:srgbClr val="00144D"/>
      </a:dk1>
      <a:lt1>
        <a:srgbClr val="FFFFFF"/>
      </a:lt1>
      <a:dk2>
        <a:srgbClr val="57000A"/>
      </a:dk2>
      <a:lt2>
        <a:srgbClr val="82AFD3"/>
      </a:lt2>
      <a:accent1>
        <a:srgbClr val="95001A"/>
      </a:accent1>
      <a:accent2>
        <a:srgbClr val="C0504D"/>
      </a:accent2>
      <a:accent3>
        <a:srgbClr val="045EA7"/>
      </a:accent3>
      <a:accent4>
        <a:srgbClr val="F2C100"/>
      </a:accent4>
      <a:accent5>
        <a:srgbClr val="00144D"/>
      </a:accent5>
      <a:accent6>
        <a:srgbClr val="44464B"/>
      </a:accent6>
      <a:hlink>
        <a:srgbClr val="00144D"/>
      </a:hlink>
      <a:folHlink>
        <a:srgbClr val="82AF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